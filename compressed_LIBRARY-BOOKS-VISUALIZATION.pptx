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71" r:id="rId16"/>
    <p:sldId id="264" r:id="rId17"/>
  </p:sldIdLst>
  <p:sldSz cx="14630400" cy="8229600"/>
  <p:notesSz cx="8229600" cy="14630400"/>
  <p:embeddedFontLst>
    <p:embeddedFont>
      <p:font typeface="Raleway" pitchFamily="2" charset="0"/>
      <p:regular r:id="rId19"/>
    </p:embeddedFont>
    <p:embeddedFont>
      <p:font typeface="Roboto" panose="02000000000000000000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63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CDE28D2-446E-FF8E-8711-88084DC8E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"/>
            <a:ext cx="6781799" cy="822007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427083"/>
            <a:ext cx="86979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LIBRARY BOOKS VISUALIZATION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949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analyzes a library book dataset of 7,405 records, detailing titles, authors, genres, publishers, shelf locations, and availability. Derived from a library management system, the analysis uses charts and visualizations to enhance understanding and optimize library operations.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333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ATUL KUMAR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514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 NO – 12313543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694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 - 13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875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– K23SK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642246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7AEEBB-F85E-23BC-41F2-47BCC0217939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975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Books Published by Each Publisher Across Different Genres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909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 Determine the number of books published by each publisher across different genres.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358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169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Extracted data from "Genre" and "Publisher" columns. Used Excel’s PivotTable to group data by genre and count books published by each publisher.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5358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51169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NCERT published the most books (1,258), excelling in Biology and Social Science. Oxford led in Maths. Validated results with summary tables.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345945-BD58-1061-400F-20D3DD6F5210}"/>
              </a:ext>
            </a:extLst>
          </p:cNvPr>
          <p:cNvSpPr/>
          <p:nvPr/>
        </p:nvSpPr>
        <p:spPr>
          <a:xfrm>
            <a:off x="12544425" y="7677150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B10C95-10AC-C38B-9660-4B78A2B63777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338EF4-1ABF-832E-73CB-41909D1FDD78}"/>
              </a:ext>
            </a:extLst>
          </p:cNvPr>
          <p:cNvSpPr/>
          <p:nvPr/>
        </p:nvSpPr>
        <p:spPr>
          <a:xfrm>
            <a:off x="12544424" y="7551897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D6F39F-BA02-CC22-49B3-7B78288E0AB4}"/>
              </a:ext>
            </a:extLst>
          </p:cNvPr>
          <p:cNvSpPr/>
          <p:nvPr/>
        </p:nvSpPr>
        <p:spPr>
          <a:xfrm>
            <a:off x="1781650" y="870227"/>
            <a:ext cx="2134494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17CB4A-F4C5-FA81-9DCA-93474A547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49" y="558741"/>
            <a:ext cx="941101" cy="1034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BD0C71-0EE5-9E2A-541D-B23B614E90D7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AD2A3-C068-644A-5103-5DABFDC6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350"/>
            <a:ext cx="14630400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5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917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Book Information Search Using Book ID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368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 Search for detailed information of a specific book using its ID.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6100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0906" y="3610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Mechanism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100512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a search mechanism simulating Excel’s VLOOKUP function. Filtered dataset by Book ID (e.g., BK126) to extract all details.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6711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30906" y="56711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Extracted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30906" y="6161603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Retrieved Title, Author, Genre, ISBN, Publisher, Publication Year, Edition, Pages, Shelf Code, Availability Status, Cost, Category, Book Condition, and Number of Reviews.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DA52B1-64A5-5B8F-DE9C-96FAE4FD1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74" y="21312"/>
            <a:ext cx="871635" cy="9578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274C9E6-1AC6-F1C1-797B-C069A9051703}"/>
              </a:ext>
            </a:extLst>
          </p:cNvPr>
          <p:cNvSpPr/>
          <p:nvPr/>
        </p:nvSpPr>
        <p:spPr>
          <a:xfrm>
            <a:off x="1304092" y="389156"/>
            <a:ext cx="2251514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 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0BB31-7686-1676-7965-CD3918085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14630400" cy="7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51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6280189" y="3370480"/>
            <a:ext cx="8226385" cy="2345888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54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Ranking Publishers Based on Total Number of Reviews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52317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 Rank publishers based on the total number of reviews their books received.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010989"/>
            <a:ext cx="8226385" cy="2104430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3738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228981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Summed the "Number of Reviews" column for each publisher using Excel’s PivotTable. Ranked publishers in descending order based on total reviews.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579215" y="6226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Publisher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79215" y="685782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NCERT had the highest number of reviews (23,545), followed by Oxford, Macmillan, Pearson, Scholastic, and Cambridge.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C212C6-E6AB-6628-38E5-B7954250F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188" y="3871"/>
            <a:ext cx="769577" cy="72580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3C088B9-72AB-2011-1553-2DF1B89F6217}"/>
              </a:ext>
            </a:extLst>
          </p:cNvPr>
          <p:cNvSpPr/>
          <p:nvPr/>
        </p:nvSpPr>
        <p:spPr>
          <a:xfrm>
            <a:off x="6759161" y="122129"/>
            <a:ext cx="2164952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OBJECTIVE-3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17504-DBB6-6AD4-E444-85F0CBD8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24"/>
            <a:ext cx="14630400" cy="738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75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Visualizing Books by Shelf Location Using Slicers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352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 Visualize books by shelf location (A1 to E4) using slicers.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753326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4547116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Shelf Analysis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5037534"/>
            <a:ext cx="22919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Analyzed "Shelf Code" and "Availability Status" using Excel’s PivotTable and Slicer tools.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3753326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12304" y="4547116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Filters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912304" y="5037534"/>
            <a:ext cx="229207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Added interactive slicers for dynamic filtering, enabling users to explore specific shelves.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3753326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44538" y="4547116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Usage Patterns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1544538" y="5037534"/>
            <a:ext cx="22919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Visualizations like stacked bar charts or heatmaps to illustrate usage patterns and storage efficiency.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F22B94-E3BD-A8A6-02F0-8CAA8CC024CA}"/>
              </a:ext>
            </a:extLst>
          </p:cNvPr>
          <p:cNvSpPr/>
          <p:nvPr/>
        </p:nvSpPr>
        <p:spPr>
          <a:xfrm>
            <a:off x="12258675" y="7660362"/>
            <a:ext cx="2371725" cy="566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0A86DA-11A9-FC0B-C666-D9AA992615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001" y="248841"/>
            <a:ext cx="774234" cy="7071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3146E5E-8A54-2B89-5D7A-3256B7B4D9AF}"/>
              </a:ext>
            </a:extLst>
          </p:cNvPr>
          <p:cNvSpPr/>
          <p:nvPr/>
        </p:nvSpPr>
        <p:spPr>
          <a:xfrm>
            <a:off x="6707585" y="376475"/>
            <a:ext cx="2164952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OBJECTIVE-4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BBB85-B24C-F481-D227-B64D55FBD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3" y="295275"/>
            <a:ext cx="14468474" cy="779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8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374" y="612696"/>
            <a:ext cx="7725251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Generating a Formatted Receipt for Book Transactions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9374" y="2183487"/>
            <a:ext cx="7725251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 Generate a formatted receipt for book transactions.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937379" y="2735699"/>
            <a:ext cx="22860" cy="4881205"/>
          </a:xfrm>
          <a:prstGeom prst="roundRect">
            <a:avLst>
              <a:gd name="adj" fmla="val 37242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1142524" y="3180278"/>
            <a:ext cx="608052" cy="22860"/>
          </a:xfrm>
          <a:prstGeom prst="roundRect">
            <a:avLst>
              <a:gd name="adj" fmla="val 372421"/>
            </a:avLst>
          </a:prstGeom>
          <a:solidFill>
            <a:srgbClr val="C7C7D0"/>
          </a:solidFill>
          <a:ln/>
        </p:spPr>
      </p:sp>
      <p:sp>
        <p:nvSpPr>
          <p:cNvPr id="7" name="Shape 4"/>
          <p:cNvSpPr/>
          <p:nvPr/>
        </p:nvSpPr>
        <p:spPr>
          <a:xfrm>
            <a:off x="709374" y="2963704"/>
            <a:ext cx="456009" cy="45600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96" y="3001685"/>
            <a:ext cx="303967" cy="380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50839" y="2938343"/>
            <a:ext cx="2533769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Template Design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950839" y="3376613"/>
            <a:ext cx="6483787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a template in Excel and PowerPoint incorporating key book and transaction details.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1142524" y="4874895"/>
            <a:ext cx="608052" cy="22860"/>
          </a:xfrm>
          <a:prstGeom prst="roundRect">
            <a:avLst>
              <a:gd name="adj" fmla="val 372421"/>
            </a:avLst>
          </a:prstGeom>
          <a:solidFill>
            <a:srgbClr val="C7C7D0"/>
          </a:solidFill>
          <a:ln/>
        </p:spPr>
      </p:sp>
      <p:sp>
        <p:nvSpPr>
          <p:cNvPr id="12" name="Shape 8"/>
          <p:cNvSpPr/>
          <p:nvPr/>
        </p:nvSpPr>
        <p:spPr>
          <a:xfrm>
            <a:off x="709374" y="4658320"/>
            <a:ext cx="456009" cy="45600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96" y="4696301"/>
            <a:ext cx="303967" cy="3800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50839" y="4632960"/>
            <a:ext cx="2533769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Extraction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950839" y="5071229"/>
            <a:ext cx="6483787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Extracted Book ID, Title, Author, Cost, and Availability Status, along with customer information.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1142524" y="6569512"/>
            <a:ext cx="608052" cy="22860"/>
          </a:xfrm>
          <a:prstGeom prst="roundRect">
            <a:avLst>
              <a:gd name="adj" fmla="val 372421"/>
            </a:avLst>
          </a:prstGeom>
          <a:solidFill>
            <a:srgbClr val="C7C7D0"/>
          </a:solidFill>
          <a:ln/>
        </p:spPr>
      </p:sp>
      <p:sp>
        <p:nvSpPr>
          <p:cNvPr id="17" name="Shape 12"/>
          <p:cNvSpPr/>
          <p:nvPr/>
        </p:nvSpPr>
        <p:spPr>
          <a:xfrm>
            <a:off x="709374" y="6352937"/>
            <a:ext cx="456009" cy="45600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96" y="6390918"/>
            <a:ext cx="303967" cy="3800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50839" y="6327577"/>
            <a:ext cx="2533769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Professional Layout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950839" y="6765846"/>
            <a:ext cx="6483787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 professional receipt layout with clear, printable format, enhancing operational efficiency.</a:t>
            </a:r>
            <a:endParaRPr lang="en-US" sz="15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519E31C-174E-93EE-7D3F-90955EFCF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49" y="27247"/>
            <a:ext cx="816801" cy="58544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E39FE24-AD5F-A5D2-9553-5A85ACAD022D}"/>
              </a:ext>
            </a:extLst>
          </p:cNvPr>
          <p:cNvSpPr/>
          <p:nvPr/>
        </p:nvSpPr>
        <p:spPr>
          <a:xfrm>
            <a:off x="1584525" y="120373"/>
            <a:ext cx="2164952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OBJECTIVE-5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CAFCA-93E4-B4A8-C199-7A83310E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4630400" cy="714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03D3A9-90A4-23F1-582B-06035E84B681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7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1725" y="682585"/>
            <a:ext cx="5992178" cy="620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Dashboard Overview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81725" y="1601510"/>
            <a:ext cx="7753350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dashboard integrates all objectives, providing a comprehensive view of library operations. It allows for detailed analysis and efficient management of library resources.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778681"/>
            <a:ext cx="993338" cy="11920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73077" y="2977277"/>
            <a:ext cx="2483406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Publisher Analysis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473077" y="3406854"/>
            <a:ext cx="646199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books published by each publisher across different genres.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3970734"/>
            <a:ext cx="993338" cy="11920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73077" y="4169331"/>
            <a:ext cx="2483406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 Search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473077" y="4598908"/>
            <a:ext cx="646199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information retrieval using Book ID.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5162788"/>
            <a:ext cx="993338" cy="11920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73077" y="5361384"/>
            <a:ext cx="2483406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Ranking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473077" y="5790962"/>
            <a:ext cx="646199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Ranking of publishers based on total reviews.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6354842"/>
            <a:ext cx="993338" cy="119205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73077" y="6553438"/>
            <a:ext cx="2483406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Shelf Visualization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7473077" y="6983016"/>
            <a:ext cx="646199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of books by shelf location.</a:t>
            </a:r>
            <a:endParaRPr lang="en-US" sz="15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8230A0-5E1D-727B-D133-D18AF9293458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8CF2FB-88AA-D58C-5AC8-0A949DA60B08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948BA7-0EA2-E6C5-4D70-8F8237B2A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33375"/>
            <a:ext cx="14049375" cy="745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6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421"/>
            <a:ext cx="63479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Table Details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78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Clicking on a table name in the dashboard reveals a detailed description of the tables, providing deeper insights into the data structure and content.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3608784"/>
            <a:ext cx="2152055" cy="8079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4892" y="390060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357217" y="3835598"/>
            <a:ext cx="1888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Structure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187077" y="4429839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473416"/>
            <a:ext cx="4304109" cy="8079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6780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4700230"/>
            <a:ext cx="2346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Content Overview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6263164" y="5294471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338048"/>
            <a:ext cx="6456164" cy="8079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94773" y="554271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7509272" y="5564862"/>
            <a:ext cx="21755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Insights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93790" y="64011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feature enhances user understanding and facilitates more informed decision-making.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61C2C-7D0D-80EE-D3B4-258E78531543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8D4FD-AC98-2424-302D-24EE652E6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425"/>
            <a:ext cx="14630400" cy="66579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47801F-E729-816B-5032-D0D65636D7D0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452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195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405" y="3319701"/>
            <a:ext cx="7738824" cy="679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 and Next Steps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61405" y="4325779"/>
            <a:ext cx="13107591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highlighted the power of data visualization in optimizing library operations. Key takeaways include the importance of publisher analysis, efficient book search mechanisms, and interactive shelf management.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61405" y="5919073"/>
            <a:ext cx="4151709" cy="217527"/>
          </a:xfrm>
          <a:prstGeom prst="roundRect">
            <a:avLst>
              <a:gd name="adj" fmla="val 42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1405" y="6462832"/>
            <a:ext cx="281475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Dashboard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1405" y="6933248"/>
            <a:ext cx="4151709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the dashboard into daily library operations.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39345" y="5592723"/>
            <a:ext cx="4151709" cy="217527"/>
          </a:xfrm>
          <a:prstGeom prst="roundRect">
            <a:avLst>
              <a:gd name="adj" fmla="val 42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39345" y="6136481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Staff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239345" y="6606897"/>
            <a:ext cx="4151709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training to library staff on using the dashboard.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717286" y="5266492"/>
            <a:ext cx="4151709" cy="217527"/>
          </a:xfrm>
          <a:prstGeom prst="roundRect">
            <a:avLst>
              <a:gd name="adj" fmla="val 42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17286" y="5810250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Gather Feedback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717286" y="6280666"/>
            <a:ext cx="4151709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feedback for continuous improvement.</a:t>
            </a: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7951BE-1C85-ED2D-A71E-94B70B75CE63}"/>
              </a:ext>
            </a:extLst>
          </p:cNvPr>
          <p:cNvSpPr/>
          <p:nvPr/>
        </p:nvSpPr>
        <p:spPr>
          <a:xfrm>
            <a:off x="12544425" y="7686675"/>
            <a:ext cx="197167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652</Words>
  <Application>Microsoft Office PowerPoint</Application>
  <PresentationFormat>Custom</PresentationFormat>
  <Paragraphs>81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Roboto</vt:lpstr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Kumar</cp:lastModifiedBy>
  <cp:revision>3</cp:revision>
  <dcterms:created xsi:type="dcterms:W3CDTF">2025-04-12T05:46:24Z</dcterms:created>
  <dcterms:modified xsi:type="dcterms:W3CDTF">2025-04-12T06:09:03Z</dcterms:modified>
</cp:coreProperties>
</file>